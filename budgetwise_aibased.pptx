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81" r:id="rId7"/>
    <p:sldId id="287" r:id="rId8"/>
    <p:sldId id="261" r:id="rId9"/>
    <p:sldId id="270" r:id="rId10"/>
    <p:sldId id="271" r:id="rId11"/>
    <p:sldId id="276" r:id="rId12"/>
    <p:sldId id="272" r:id="rId13"/>
    <p:sldId id="273" r:id="rId14"/>
    <p:sldId id="278" r:id="rId15"/>
    <p:sldId id="274" r:id="rId16"/>
    <p:sldId id="275" r:id="rId17"/>
    <p:sldId id="277" r:id="rId18"/>
    <p:sldId id="279" r:id="rId19"/>
    <p:sldId id="280" r:id="rId20"/>
    <p:sldId id="282" r:id="rId21"/>
    <p:sldId id="283" r:id="rId22"/>
    <p:sldId id="284" r:id="rId23"/>
    <p:sldId id="285" r:id="rId24"/>
    <p:sldId id="286" r:id="rId25"/>
    <p:sldId id="268" r:id="rId26"/>
    <p:sldId id="26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11/22/2025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11/22/2025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39E17-ECDA-E6EE-42A1-BD094CDD9237}"/>
              </a:ext>
            </a:extLst>
          </p:cNvPr>
          <p:cNvSpPr>
            <a:spLocks noGrp="1"/>
          </p:cNvSpPr>
          <p:nvPr>
            <p:ph type="ctrTitle"/>
          </p:nvPr>
        </p:nvSpPr>
        <p:spPr>
          <a:xfrm>
            <a:off x="1751012" y="1300786"/>
            <a:ext cx="8689976" cy="1560402"/>
          </a:xfrm>
        </p:spPr>
        <p:txBody>
          <a:bodyPr>
            <a:normAutofit/>
          </a:bodyPr>
          <a:lstStyle/>
          <a:p>
            <a:r>
              <a:rPr lang="en-US" sz="4400" b="1" dirty="0"/>
              <a:t>BudgetWise AI based Expense Forecasting Tool</a:t>
            </a:r>
            <a:endParaRPr lang="en-IN" sz="4400" b="1" dirty="0"/>
          </a:p>
        </p:txBody>
      </p:sp>
      <p:sp>
        <p:nvSpPr>
          <p:cNvPr id="3" name="Subtitle 2">
            <a:extLst>
              <a:ext uri="{FF2B5EF4-FFF2-40B4-BE49-F238E27FC236}">
                <a16:creationId xmlns:a16="http://schemas.microsoft.com/office/drawing/2014/main" id="{24A41311-EA52-43FD-BBBC-791A90227B83}"/>
              </a:ext>
            </a:extLst>
          </p:cNvPr>
          <p:cNvSpPr>
            <a:spLocks noGrp="1"/>
          </p:cNvSpPr>
          <p:nvPr>
            <p:ph type="subTitle" idx="1"/>
          </p:nvPr>
        </p:nvSpPr>
        <p:spPr/>
        <p:txBody>
          <a:bodyPr/>
          <a:lstStyle/>
          <a:p>
            <a:r>
              <a:rPr lang="en-IN" dirty="0"/>
              <a:t>Presenting By </a:t>
            </a:r>
          </a:p>
          <a:p>
            <a:r>
              <a:rPr lang="en-IN" dirty="0"/>
              <a:t>Rakshita</a:t>
            </a:r>
          </a:p>
        </p:txBody>
      </p:sp>
    </p:spTree>
    <p:extLst>
      <p:ext uri="{BB962C8B-B14F-4D97-AF65-F5344CB8AC3E}">
        <p14:creationId xmlns:p14="http://schemas.microsoft.com/office/powerpoint/2010/main" val="740903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C884F-F08C-5933-E9BC-45681E387C52}"/>
              </a:ext>
            </a:extLst>
          </p:cNvPr>
          <p:cNvSpPr>
            <a:spLocks noGrp="1"/>
          </p:cNvSpPr>
          <p:nvPr>
            <p:ph type="title"/>
          </p:nvPr>
        </p:nvSpPr>
        <p:spPr/>
        <p:txBody>
          <a:bodyPr/>
          <a:lstStyle/>
          <a:p>
            <a:pPr algn="l"/>
            <a:r>
              <a:rPr lang="en-IN" dirty="0"/>
              <a:t>Content</a:t>
            </a:r>
          </a:p>
        </p:txBody>
      </p:sp>
      <p:sp>
        <p:nvSpPr>
          <p:cNvPr id="3" name="Content Placeholder 2">
            <a:extLst>
              <a:ext uri="{FF2B5EF4-FFF2-40B4-BE49-F238E27FC236}">
                <a16:creationId xmlns:a16="http://schemas.microsoft.com/office/drawing/2014/main" id="{F4D8EB65-54F0-D616-BF44-D6C676B1705F}"/>
              </a:ext>
            </a:extLst>
          </p:cNvPr>
          <p:cNvSpPr>
            <a:spLocks noGrp="1"/>
          </p:cNvSpPr>
          <p:nvPr>
            <p:ph sz="quarter" idx="13"/>
          </p:nvPr>
        </p:nvSpPr>
        <p:spPr/>
        <p:txBody>
          <a:bodyPr>
            <a:noAutofit/>
          </a:bodyPr>
          <a:lstStyle/>
          <a:p>
            <a:r>
              <a:rPr lang="en-IN" dirty="0">
                <a:latin typeface="Times New Roman" panose="02020603050405020304" pitchFamily="18" charset="0"/>
                <a:cs typeface="Times New Roman" panose="02020603050405020304" pitchFamily="18" charset="0"/>
              </a:rPr>
              <a:t>Abstract</a:t>
            </a:r>
          </a:p>
          <a:p>
            <a:r>
              <a:rPr lang="en-IN" dirty="0">
                <a:latin typeface="Times New Roman" panose="02020603050405020304" pitchFamily="18" charset="0"/>
                <a:cs typeface="Times New Roman" panose="02020603050405020304" pitchFamily="18" charset="0"/>
              </a:rPr>
              <a:t>Introduction</a:t>
            </a:r>
          </a:p>
          <a:p>
            <a:r>
              <a:rPr lang="en-IN" dirty="0">
                <a:latin typeface="Times New Roman" panose="02020603050405020304" pitchFamily="18" charset="0"/>
                <a:cs typeface="Times New Roman" panose="02020603050405020304" pitchFamily="18" charset="0"/>
              </a:rPr>
              <a:t>Problem Statement</a:t>
            </a:r>
          </a:p>
          <a:p>
            <a:r>
              <a:rPr lang="en-IN" dirty="0">
                <a:latin typeface="Times New Roman" panose="02020603050405020304" pitchFamily="18" charset="0"/>
                <a:cs typeface="Times New Roman" panose="02020603050405020304" pitchFamily="18" charset="0"/>
              </a:rPr>
              <a:t>Methodology</a:t>
            </a:r>
          </a:p>
          <a:p>
            <a:r>
              <a:rPr lang="en-IN" dirty="0">
                <a:latin typeface="Times New Roman" panose="02020603050405020304" pitchFamily="18" charset="0"/>
                <a:cs typeface="Times New Roman" panose="02020603050405020304" pitchFamily="18" charset="0"/>
              </a:rPr>
              <a:t>Key feature</a:t>
            </a:r>
          </a:p>
          <a:p>
            <a:r>
              <a:rPr lang="en-IN" dirty="0">
                <a:latin typeface="Times New Roman" panose="02020603050405020304" pitchFamily="18" charset="0"/>
                <a:cs typeface="Times New Roman" panose="02020603050405020304" pitchFamily="18" charset="0"/>
              </a:rPr>
              <a:t>Results</a:t>
            </a:r>
          </a:p>
          <a:p>
            <a:r>
              <a:rPr lang="en-IN"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174241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B162-F2FB-C814-B79F-4AF068F2244A}"/>
              </a:ext>
            </a:extLst>
          </p:cNvPr>
          <p:cNvSpPr>
            <a:spLocks noGrp="1"/>
          </p:cNvSpPr>
          <p:nvPr>
            <p:ph type="title"/>
          </p:nvPr>
        </p:nvSpPr>
        <p:spPr/>
        <p:txBody>
          <a:bodyPr/>
          <a:lstStyle/>
          <a:p>
            <a:pPr algn="l"/>
            <a:r>
              <a:rPr lang="en-IN" dirty="0"/>
              <a:t>Abstract</a:t>
            </a:r>
          </a:p>
        </p:txBody>
      </p:sp>
      <p:sp>
        <p:nvSpPr>
          <p:cNvPr id="4" name="TextBox 3">
            <a:extLst>
              <a:ext uri="{FF2B5EF4-FFF2-40B4-BE49-F238E27FC236}">
                <a16:creationId xmlns:a16="http://schemas.microsoft.com/office/drawing/2014/main" id="{0FD32198-57D0-9FED-816D-55D3E9D50401}"/>
              </a:ext>
            </a:extLst>
          </p:cNvPr>
          <p:cNvSpPr txBox="1"/>
          <p:nvPr/>
        </p:nvSpPr>
        <p:spPr>
          <a:xfrm>
            <a:off x="785954" y="2143432"/>
            <a:ext cx="10492271" cy="3268652"/>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BudgetWise is an intelligent expense forecasting and management tool that utilizes Artificial Intelligence (AI) to help users track, analyze, and predict their financial activities.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system allows users to record income and expenses, categorize them automatically using Natural Language Processing (NLP), and visualize insights through dynamic dashboards.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integrates Prophet, Meta’s forecasting library, to predict future expenses and spending patterns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By combining automation, visualization, and forecasting, BudgetWise empowers users to make smarter financial decisions and achieve their savings goals.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7264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098AD-8274-F020-70C9-2ABF58FB0E90}"/>
              </a:ext>
            </a:extLst>
          </p:cNvPr>
          <p:cNvSpPr>
            <a:spLocks noGrp="1"/>
          </p:cNvSpPr>
          <p:nvPr>
            <p:ph type="title"/>
          </p:nvPr>
        </p:nvSpPr>
        <p:spPr/>
        <p:txBody>
          <a:bodyPr/>
          <a:lstStyle/>
          <a:p>
            <a:pPr algn="l"/>
            <a:r>
              <a:rPr lang="en-IN" dirty="0"/>
              <a:t>Introduction</a:t>
            </a:r>
            <a:br>
              <a:rPr lang="en-IN" dirty="0"/>
            </a:br>
            <a:endParaRPr lang="en-IN" dirty="0"/>
          </a:p>
        </p:txBody>
      </p:sp>
      <p:sp>
        <p:nvSpPr>
          <p:cNvPr id="7" name="Rectangle 4">
            <a:extLst>
              <a:ext uri="{FF2B5EF4-FFF2-40B4-BE49-F238E27FC236}">
                <a16:creationId xmlns:a16="http://schemas.microsoft.com/office/drawing/2014/main" id="{FC91CCC3-0471-5872-B98D-22D8D1467546}"/>
              </a:ext>
            </a:extLst>
          </p:cNvPr>
          <p:cNvSpPr>
            <a:spLocks noChangeArrowheads="1"/>
          </p:cNvSpPr>
          <p:nvPr/>
        </p:nvSpPr>
        <p:spPr bwMode="auto">
          <a:xfrm>
            <a:off x="913775" y="1416561"/>
            <a:ext cx="10137684"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Managing personal finances effectively is a crucial skill in today’s world, yet many people struggle to monitor their spending or plan for future expenses. Traditional expense trackers often provide only static records and lack predictive capabilities.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BudgetWise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addresses this limitation by leveraging artificial intelligence and machine learning to offer an intelligent financial assistant that combines secure authentication, real-time expense categorization, interactive visualizations, and predictive forecasting. This integrated approach enables users to gain deeper insights into their spending behavior, anticipate future financial trends, and manage their finances more proactively and efficiently.</a:t>
            </a:r>
          </a:p>
        </p:txBody>
      </p:sp>
    </p:spTree>
    <p:extLst>
      <p:ext uri="{BB962C8B-B14F-4D97-AF65-F5344CB8AC3E}">
        <p14:creationId xmlns:p14="http://schemas.microsoft.com/office/powerpoint/2010/main" val="4085082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98B9-37D1-1B02-50B4-EA29A2DEC816}"/>
              </a:ext>
            </a:extLst>
          </p:cNvPr>
          <p:cNvSpPr>
            <a:spLocks noGrp="1"/>
          </p:cNvSpPr>
          <p:nvPr>
            <p:ph type="title"/>
          </p:nvPr>
        </p:nvSpPr>
        <p:spPr/>
        <p:txBody>
          <a:bodyPr/>
          <a:lstStyle/>
          <a:p>
            <a:pPr algn="l"/>
            <a:r>
              <a:rPr lang="en-IN" dirty="0"/>
              <a:t>Problem Statement</a:t>
            </a:r>
            <a:br>
              <a:rPr lang="en-IN" dirty="0"/>
            </a:br>
            <a:endParaRPr lang="en-IN" dirty="0"/>
          </a:p>
        </p:txBody>
      </p:sp>
      <p:sp>
        <p:nvSpPr>
          <p:cNvPr id="4" name="TextBox 3">
            <a:extLst>
              <a:ext uri="{FF2B5EF4-FFF2-40B4-BE49-F238E27FC236}">
                <a16:creationId xmlns:a16="http://schemas.microsoft.com/office/drawing/2014/main" id="{160835AB-1A1C-2A99-F0F9-D420B6A15DE8}"/>
              </a:ext>
            </a:extLst>
          </p:cNvPr>
          <p:cNvSpPr txBox="1"/>
          <p:nvPr/>
        </p:nvSpPr>
        <p:spPr>
          <a:xfrm>
            <a:off x="993058" y="2290916"/>
            <a:ext cx="10285168" cy="2795958"/>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Most individuals struggle to effectively track daily expenses and manage budgets. Existing solutions mainly focus on manual entry and provide limited visual analytics without offering future predictions. Users require an intelligent system capable of analyzing and forecasting expenses to support smarter financial decisions and better planning.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0808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1AF83-29E8-D4D0-4FDB-F203B4A1B3EF}"/>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Methodology</a:t>
            </a:r>
            <a:br>
              <a:rPr lang="en-IN" dirty="0">
                <a:latin typeface="Times New Roman" panose="02020603050405020304" pitchFamily="18" charset="0"/>
                <a:cs typeface="Times New Roman" panose="02020603050405020304" pitchFamily="18" charset="0"/>
              </a:rPr>
            </a:br>
            <a:endParaRPr lang="en-IN" dirty="0"/>
          </a:p>
        </p:txBody>
      </p:sp>
      <p:sp>
        <p:nvSpPr>
          <p:cNvPr id="5" name="TextBox 4">
            <a:extLst>
              <a:ext uri="{FF2B5EF4-FFF2-40B4-BE49-F238E27FC236}">
                <a16:creationId xmlns:a16="http://schemas.microsoft.com/office/drawing/2014/main" id="{FA3DABA8-B13A-DFDD-2AC7-D7D053AA9C14}"/>
              </a:ext>
            </a:extLst>
          </p:cNvPr>
          <p:cNvSpPr txBox="1"/>
          <p:nvPr/>
        </p:nvSpPr>
        <p:spPr>
          <a:xfrm>
            <a:off x="1032386" y="1623597"/>
            <a:ext cx="10658793" cy="511531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Authentication &amp; Data Entry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Categorization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Storage &amp; Preprocessing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Analytics &amp; Reporting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Expense Forecasting (Prophet Model)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Interactive Dashboard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 Setting &amp; Tracking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Management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 (Docker)</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AutoShape 2" descr="Generated image">
            <a:extLst>
              <a:ext uri="{FF2B5EF4-FFF2-40B4-BE49-F238E27FC236}">
                <a16:creationId xmlns:a16="http://schemas.microsoft.com/office/drawing/2014/main" id="{84F00D02-7BE6-7CF6-D127-40F4383B619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357785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Generated image">
            <a:extLst>
              <a:ext uri="{FF2B5EF4-FFF2-40B4-BE49-F238E27FC236}">
                <a16:creationId xmlns:a16="http://schemas.microsoft.com/office/drawing/2014/main" id="{CD51EDAF-04DD-6387-C9B6-033173394C2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F7DBBFE9-6886-8EE6-DE15-615636CE558E}"/>
              </a:ext>
            </a:extLst>
          </p:cNvPr>
          <p:cNvPicPr>
            <a:picLocks noChangeAspect="1"/>
          </p:cNvPicPr>
          <p:nvPr/>
        </p:nvPicPr>
        <p:blipFill>
          <a:blip r:embed="rId2"/>
          <a:stretch>
            <a:fillRect/>
          </a:stretch>
        </p:blipFill>
        <p:spPr>
          <a:xfrm>
            <a:off x="801329" y="624350"/>
            <a:ext cx="5447071" cy="6233650"/>
          </a:xfrm>
          <a:prstGeom prst="rect">
            <a:avLst/>
          </a:prstGeom>
        </p:spPr>
      </p:pic>
      <p:sp>
        <p:nvSpPr>
          <p:cNvPr id="6" name="TextBox 5">
            <a:extLst>
              <a:ext uri="{FF2B5EF4-FFF2-40B4-BE49-F238E27FC236}">
                <a16:creationId xmlns:a16="http://schemas.microsoft.com/office/drawing/2014/main" id="{03B9102A-9682-F8FE-45F7-8A6EBB6860F5}"/>
              </a:ext>
            </a:extLst>
          </p:cNvPr>
          <p:cNvSpPr txBox="1"/>
          <p:nvPr/>
        </p:nvSpPr>
        <p:spPr>
          <a:xfrm>
            <a:off x="6740013" y="1563841"/>
            <a:ext cx="4744065" cy="3730317"/>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diagram shows how the system takes user-entered transactions, automatically categorizes them, stores and processes the data, and generates reports. This data is then used for AI-based expense forecasting, and all results are displayed on an interactive dashboard, with admin controls and Docker deployment completing the workflow.</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6842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DCA99-FDA6-D5C2-962A-78EA0AE48D7F}"/>
              </a:ext>
            </a:extLst>
          </p:cNvPr>
          <p:cNvSpPr>
            <a:spLocks noGrp="1"/>
          </p:cNvSpPr>
          <p:nvPr>
            <p:ph type="title"/>
          </p:nvPr>
        </p:nvSpPr>
        <p:spPr/>
        <p:txBody>
          <a:bodyPr/>
          <a:lstStyle/>
          <a:p>
            <a:pPr algn="l"/>
            <a:r>
              <a:rPr lang="en-IN" dirty="0"/>
              <a:t>Key feature</a:t>
            </a:r>
            <a:br>
              <a:rPr lang="en-IN" dirty="0"/>
            </a:br>
            <a:endParaRPr lang="en-IN" dirty="0"/>
          </a:p>
        </p:txBody>
      </p:sp>
      <p:sp>
        <p:nvSpPr>
          <p:cNvPr id="3" name="Rectangle 1">
            <a:extLst>
              <a:ext uri="{FF2B5EF4-FFF2-40B4-BE49-F238E27FC236}">
                <a16:creationId xmlns:a16="http://schemas.microsoft.com/office/drawing/2014/main" id="{A44B9B0E-54FE-E82D-5B01-CB9B242EE293}"/>
              </a:ext>
            </a:extLst>
          </p:cNvPr>
          <p:cNvSpPr>
            <a:spLocks noChangeArrowheads="1"/>
          </p:cNvSpPr>
          <p:nvPr/>
        </p:nvSpPr>
        <p:spPr bwMode="auto">
          <a:xfrm>
            <a:off x="677797" y="1533093"/>
            <a:ext cx="10600428" cy="4480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Authentication:</a:t>
            </a:r>
            <a:b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login and registration using JWT (JSON Web Tokens) for protected access to financial data.</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&amp; Automated Transaction Entry:</a:t>
            </a:r>
            <a:b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manually input transactions or let the system automatically categorize them using NLP keyword matching.</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 Visualization:</a:t>
            </a:r>
            <a:b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charts and graphs created using Matplotlib and Seaborn display income, expenses, and spending summaries.</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Forecasting with Prophet:</a:t>
            </a:r>
            <a:b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Meta’s Prophet library allows forecasting of monthly or category-based expenses.</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Financial Goal Setting:</a:t>
            </a:r>
            <a:b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set and track goals (e.g., “Save ₹5000 this month” or “Reduce dining expenses by 10%”).</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Interactive Reports:</a:t>
            </a:r>
            <a:b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Automatically generated summaries and reports provide clear insights into financial health.</a:t>
            </a:r>
          </a:p>
        </p:txBody>
      </p:sp>
    </p:spTree>
    <p:extLst>
      <p:ext uri="{BB962C8B-B14F-4D97-AF65-F5344CB8AC3E}">
        <p14:creationId xmlns:p14="http://schemas.microsoft.com/office/powerpoint/2010/main" val="2391987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3E77D-8328-BFFF-2428-1094A8ED2847}"/>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Milestone 1</a:t>
            </a:r>
          </a:p>
        </p:txBody>
      </p:sp>
      <p:sp>
        <p:nvSpPr>
          <p:cNvPr id="4" name="TextBox 3">
            <a:extLst>
              <a:ext uri="{FF2B5EF4-FFF2-40B4-BE49-F238E27FC236}">
                <a16:creationId xmlns:a16="http://schemas.microsoft.com/office/drawing/2014/main" id="{41A9FF6B-9FB8-042C-B772-1CE00877C339}"/>
              </a:ext>
            </a:extLst>
          </p:cNvPr>
          <p:cNvSpPr txBox="1"/>
          <p:nvPr/>
        </p:nvSpPr>
        <p:spPr>
          <a:xfrm>
            <a:off x="1022555" y="2045111"/>
            <a:ext cx="10255670" cy="3268652"/>
          </a:xfrm>
          <a:prstGeom prst="rect">
            <a:avLst/>
          </a:prstGeom>
          <a:noFill/>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Weeks 1 : User Authentication &amp; Basic Transaction Input </a:t>
            </a:r>
          </a:p>
          <a:p>
            <a:pPr algn="just">
              <a:lnSpc>
                <a:spcPct val="150000"/>
              </a:lnSpc>
            </a:pPr>
            <a:r>
              <a:rPr lang="en-IN" sz="2000" dirty="0">
                <a:latin typeface="Times New Roman" panose="02020603050405020304" pitchFamily="18" charset="0"/>
                <a:cs typeface="Times New Roman" panose="02020603050405020304" pitchFamily="18" charset="0"/>
              </a:rPr>
              <a:t>• User Registration: Implemented a secure user registration system with standard email/password and JWT (JSON Web Token) security.</a:t>
            </a:r>
          </a:p>
          <a:p>
            <a:pPr algn="just">
              <a:lnSpc>
                <a:spcPct val="150000"/>
              </a:lnSpc>
            </a:pPr>
            <a:r>
              <a:rPr lang="en-IN" sz="2000" dirty="0">
                <a:latin typeface="Times New Roman" panose="02020603050405020304" pitchFamily="18" charset="0"/>
                <a:cs typeface="Times New Roman" panose="02020603050405020304" pitchFamily="18" charset="0"/>
              </a:rPr>
              <a:t> • Login System: Developed a robust login mechanism to authenticate users.</a:t>
            </a:r>
          </a:p>
          <a:p>
            <a:pPr algn="just">
              <a:lnSpc>
                <a:spcPct val="150000"/>
              </a:lnSpc>
            </a:pPr>
            <a:r>
              <a:rPr lang="en-IN" sz="2000" dirty="0">
                <a:latin typeface="Times New Roman" panose="02020603050405020304" pitchFamily="18" charset="0"/>
                <a:cs typeface="Times New Roman" panose="02020603050405020304" pitchFamily="18" charset="0"/>
              </a:rPr>
              <a:t> • Profile Management: Created user profiles for managing their financial data. </a:t>
            </a:r>
          </a:p>
          <a:p>
            <a:pPr algn="just">
              <a:lnSpc>
                <a:spcPct val="150000"/>
              </a:lnSpc>
            </a:pPr>
            <a:r>
              <a:rPr lang="en-IN" sz="2000" dirty="0">
                <a:latin typeface="Times New Roman" panose="02020603050405020304" pitchFamily="18" charset="0"/>
                <a:cs typeface="Times New Roman" panose="02020603050405020304" pitchFamily="18" charset="0"/>
              </a:rPr>
              <a:t>• Manual Transaction Input: Designed a basic web interface allowing users to manually input individual dummy transactions (e.g., date, amount, description, type: income/expense). </a:t>
            </a:r>
          </a:p>
        </p:txBody>
      </p:sp>
    </p:spTree>
    <p:extLst>
      <p:ext uri="{BB962C8B-B14F-4D97-AF65-F5344CB8AC3E}">
        <p14:creationId xmlns:p14="http://schemas.microsoft.com/office/powerpoint/2010/main" val="3597853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F70CEC-C758-5AC8-3580-03F248204D5E}"/>
              </a:ext>
            </a:extLst>
          </p:cNvPr>
          <p:cNvSpPr>
            <a:spLocks noChangeArrowheads="1"/>
          </p:cNvSpPr>
          <p:nvPr/>
        </p:nvSpPr>
        <p:spPr bwMode="auto">
          <a:xfrm>
            <a:off x="993058" y="427335"/>
            <a:ext cx="9822426" cy="6038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User Registration: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robust registration system was developed where users can sign up using their email and password, protected through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JWT (JSON Web Token)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authentication to ensure data security and privacy.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Login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reliable login mechanism was implemented to authenticate users and manage secure sessions, preventing unauthorized access.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Profile Management: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Individual user profiles were created to store and manage personalized financial information, enabling customized tracking and data handling.</a:t>
            </a: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Transaction Input: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simple and interactive web interface was designed, allowing users to manually enter dummy transactions with fields like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date, amount, description, and type (income/expense)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Foundation for Future Modules: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core backend and frontend structure established in this phase provided the base for future modules such as automated categorization, data visualization, and AI-based expense forecasting.</a:t>
            </a:r>
          </a:p>
        </p:txBody>
      </p:sp>
    </p:spTree>
    <p:extLst>
      <p:ext uri="{BB962C8B-B14F-4D97-AF65-F5344CB8AC3E}">
        <p14:creationId xmlns:p14="http://schemas.microsoft.com/office/powerpoint/2010/main" val="3160122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10C0B-9D29-8854-508C-24798EA8533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Login and Registration</a:t>
            </a:r>
          </a:p>
        </p:txBody>
      </p:sp>
      <p:sp>
        <p:nvSpPr>
          <p:cNvPr id="4" name="Content Placeholder 3">
            <a:extLst>
              <a:ext uri="{FF2B5EF4-FFF2-40B4-BE49-F238E27FC236}">
                <a16:creationId xmlns:a16="http://schemas.microsoft.com/office/drawing/2014/main" id="{ED93B9AE-6FB7-C6B7-13B2-0C6F0B5D17C7}"/>
              </a:ext>
            </a:extLst>
          </p:cNvPr>
          <p:cNvSpPr>
            <a:spLocks noGrp="1"/>
          </p:cNvSpPr>
          <p:nvPr>
            <p:ph sz="quarter" idx="13"/>
          </p:nvPr>
        </p:nvSpPr>
        <p:spPr/>
        <p:txBody>
          <a:bodyPr/>
          <a:lstStyle/>
          <a:p>
            <a:endParaRPr lang="en-IN"/>
          </a:p>
        </p:txBody>
      </p:sp>
      <p:pic>
        <p:nvPicPr>
          <p:cNvPr id="5" name="Picture 4">
            <a:extLst>
              <a:ext uri="{FF2B5EF4-FFF2-40B4-BE49-F238E27FC236}">
                <a16:creationId xmlns:a16="http://schemas.microsoft.com/office/drawing/2014/main" id="{EDA3BABF-44E9-FD14-3AF6-5E0BE96D3C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3773" y="2290917"/>
            <a:ext cx="5182227" cy="3522558"/>
          </a:xfrm>
          <a:prstGeom prst="rect">
            <a:avLst/>
          </a:prstGeom>
          <a:noFill/>
          <a:ln>
            <a:noFill/>
          </a:ln>
        </p:spPr>
      </p:pic>
      <p:pic>
        <p:nvPicPr>
          <p:cNvPr id="11" name="Content Placeholder 10">
            <a:extLst>
              <a:ext uri="{FF2B5EF4-FFF2-40B4-BE49-F238E27FC236}">
                <a16:creationId xmlns:a16="http://schemas.microsoft.com/office/drawing/2014/main" id="{7E51BABD-035A-7209-F0B5-D1FF88770A8B}"/>
              </a:ext>
            </a:extLst>
          </p:cNvPr>
          <p:cNvPicPr>
            <a:picLocks noGrp="1" noChangeAspect="1"/>
          </p:cNvPicPr>
          <p:nvPr>
            <p:ph sz="quarter" idx="14"/>
          </p:nvPr>
        </p:nvPicPr>
        <p:blipFill>
          <a:blip r:embed="rId3"/>
          <a:stretch>
            <a:fillRect/>
          </a:stretch>
        </p:blipFill>
        <p:spPr>
          <a:xfrm>
            <a:off x="6436851" y="2214695"/>
            <a:ext cx="4841375" cy="3576504"/>
          </a:xfrm>
          <a:prstGeom prst="rect">
            <a:avLst/>
          </a:prstGeom>
        </p:spPr>
      </p:pic>
    </p:spTree>
    <p:extLst>
      <p:ext uri="{BB962C8B-B14F-4D97-AF65-F5344CB8AC3E}">
        <p14:creationId xmlns:p14="http://schemas.microsoft.com/office/powerpoint/2010/main" val="2492926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04103-881D-1DA4-8970-080349FB856A}"/>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Milestone 2</a:t>
            </a:r>
            <a:endParaRPr lang="en-IN" dirty="0"/>
          </a:p>
        </p:txBody>
      </p:sp>
      <p:sp>
        <p:nvSpPr>
          <p:cNvPr id="4" name="TextBox 3">
            <a:extLst>
              <a:ext uri="{FF2B5EF4-FFF2-40B4-BE49-F238E27FC236}">
                <a16:creationId xmlns:a16="http://schemas.microsoft.com/office/drawing/2014/main" id="{ACF7115C-D645-D954-E5AD-C9995486813F}"/>
              </a:ext>
            </a:extLst>
          </p:cNvPr>
          <p:cNvSpPr txBox="1"/>
          <p:nvPr/>
        </p:nvSpPr>
        <p:spPr>
          <a:xfrm>
            <a:off x="913774" y="1799303"/>
            <a:ext cx="9695233" cy="4164878"/>
          </a:xfrm>
          <a:prstGeom prst="rect">
            <a:avLst/>
          </a:prstGeom>
          <a:noFill/>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 Automated Categorization: Implemented a rule-based or simple NLP (e.g., keyword matching using NLTK) system to automatically assign categories (e.g., 'Groceries', 'Rent', 'Transport') to transaction descriptions. Allow manual override.</a:t>
            </a:r>
          </a:p>
          <a:p>
            <a:pPr>
              <a:lnSpc>
                <a:spcPct val="150000"/>
              </a:lnSpc>
            </a:pPr>
            <a:r>
              <a:rPr lang="en-US" sz="2000" dirty="0">
                <a:latin typeface="Times New Roman" panose="02020603050405020304" pitchFamily="18" charset="0"/>
                <a:cs typeface="Times New Roman" panose="02020603050405020304" pitchFamily="18" charset="0"/>
              </a:rPr>
              <a:t> • Spending Summary Reports: Developed functionality to generate basic reports showing total spending per category, monthly spending summaries, and income vs. expense over a period using Pandas. </a:t>
            </a:r>
          </a:p>
          <a:p>
            <a:pPr>
              <a:lnSpc>
                <a:spcPct val="150000"/>
              </a:lnSpc>
            </a:pPr>
            <a:r>
              <a:rPr lang="en-US" sz="2000" dirty="0">
                <a:latin typeface="Times New Roman" panose="02020603050405020304" pitchFamily="18" charset="0"/>
                <a:cs typeface="Times New Roman" panose="02020603050405020304" pitchFamily="18" charset="0"/>
              </a:rPr>
              <a:t>• Initial Dashboard View: Enhanced the Ul to display a summary of recent transactions and a basic breakdown of spending by category (e.g., a pie chart or bar chart using Matplotlib/Seaborn).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1743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65A844-465B-253E-EEC1-2511C8DEC505}"/>
              </a:ext>
            </a:extLst>
          </p:cNvPr>
          <p:cNvSpPr>
            <a:spLocks noChangeArrowheads="1"/>
          </p:cNvSpPr>
          <p:nvPr/>
        </p:nvSpPr>
        <p:spPr bwMode="auto">
          <a:xfrm>
            <a:off x="924232" y="23818"/>
            <a:ext cx="10038303" cy="6038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Categorization:</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Implemented an NLP-based system using NLTK to automatically categorize transactions like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Groceries</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Rent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Transport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manual override options.</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Rule-Based Logic: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keyword matching (e.g., “bus fare” →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Transport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“pizza” →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Food</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ensure accurate and consistent expense classification.</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Spending Summary Reports: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Generated analytical reports with Pandas showing category-wise, monthly, and income vs. expense summaries.</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 Visualization: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the UI dashboard to display recent transactions and spending breakdowns for better financial insights.</a:t>
            </a: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Visualization Tools: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Integrated Matplotlib and Seaborn to create pie and bar charts, making expense trends easy to analyze visually.</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988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053B7-5C62-88B0-F362-29F8ACF0ACD4}"/>
              </a:ext>
            </a:extLst>
          </p:cNvPr>
          <p:cNvSpPr>
            <a:spLocks noGrp="1"/>
          </p:cNvSpPr>
          <p:nvPr>
            <p:ph type="title"/>
          </p:nvPr>
        </p:nvSpPr>
        <p:spPr/>
        <p:txBody>
          <a:bodyPr/>
          <a:lstStyle/>
          <a:p>
            <a:r>
              <a:rPr lang="en-US" altLang="en-US" b="1" cap="none" dirty="0">
                <a:latin typeface="Times New Roman" panose="02020603050405020304" pitchFamily="18" charset="0"/>
                <a:cs typeface="Times New Roman" panose="02020603050405020304" pitchFamily="18" charset="0"/>
              </a:rPr>
              <a:t>Automated Categorization and Data Visualization</a:t>
            </a:r>
            <a:endParaRPr lang="en-IN" dirty="0"/>
          </a:p>
        </p:txBody>
      </p:sp>
      <p:sp>
        <p:nvSpPr>
          <p:cNvPr id="4" name="Content Placeholder 3">
            <a:extLst>
              <a:ext uri="{FF2B5EF4-FFF2-40B4-BE49-F238E27FC236}">
                <a16:creationId xmlns:a16="http://schemas.microsoft.com/office/drawing/2014/main" id="{163F6F55-7F85-AED6-A15A-9AA97C392CE4}"/>
              </a:ext>
            </a:extLst>
          </p:cNvPr>
          <p:cNvSpPr>
            <a:spLocks noGrp="1"/>
          </p:cNvSpPr>
          <p:nvPr>
            <p:ph sz="quarter" idx="13"/>
          </p:nvPr>
        </p:nvSpPr>
        <p:spPr/>
        <p:txBody>
          <a:bodyPr/>
          <a:lstStyle/>
          <a:p>
            <a:endParaRPr lang="en-IN" dirty="0"/>
          </a:p>
        </p:txBody>
      </p:sp>
      <p:pic>
        <p:nvPicPr>
          <p:cNvPr id="5" name="Picture 4">
            <a:extLst>
              <a:ext uri="{FF2B5EF4-FFF2-40B4-BE49-F238E27FC236}">
                <a16:creationId xmlns:a16="http://schemas.microsoft.com/office/drawing/2014/main" id="{8223D9F8-5B11-5DCE-151A-14C077FC686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5910" y="2367092"/>
            <a:ext cx="5193890" cy="3450941"/>
          </a:xfrm>
          <a:prstGeom prst="rect">
            <a:avLst/>
          </a:prstGeom>
          <a:noFill/>
          <a:ln>
            <a:noFill/>
          </a:ln>
        </p:spPr>
      </p:pic>
      <p:pic>
        <p:nvPicPr>
          <p:cNvPr id="9" name="Content Placeholder 8">
            <a:extLst>
              <a:ext uri="{FF2B5EF4-FFF2-40B4-BE49-F238E27FC236}">
                <a16:creationId xmlns:a16="http://schemas.microsoft.com/office/drawing/2014/main" id="{FB7B53EF-978C-2938-D9B0-AA56CFFE7D65}"/>
              </a:ext>
            </a:extLst>
          </p:cNvPr>
          <p:cNvPicPr>
            <a:picLocks noGrp="1" noChangeAspect="1"/>
          </p:cNvPicPr>
          <p:nvPr>
            <p:ph sz="quarter" idx="14"/>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2367092"/>
            <a:ext cx="5105400" cy="3312161"/>
          </a:xfrm>
          <a:prstGeom prst="rect">
            <a:avLst/>
          </a:prstGeom>
          <a:noFill/>
          <a:ln>
            <a:noFill/>
          </a:ln>
        </p:spPr>
      </p:pic>
    </p:spTree>
    <p:extLst>
      <p:ext uri="{BB962C8B-B14F-4D97-AF65-F5344CB8AC3E}">
        <p14:creationId xmlns:p14="http://schemas.microsoft.com/office/powerpoint/2010/main" val="3234167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D3D7D-483C-05BA-F53A-A3B19291C8D0}"/>
              </a:ext>
            </a:extLst>
          </p:cNvPr>
          <p:cNvSpPr>
            <a:spLocks noGrp="1"/>
          </p:cNvSpPr>
          <p:nvPr>
            <p:ph type="title"/>
          </p:nvPr>
        </p:nvSpPr>
        <p:spPr/>
        <p:txBody>
          <a:bodyPr/>
          <a:lstStyle/>
          <a:p>
            <a:pPr algn="l"/>
            <a:r>
              <a:rPr lang="en-IN" dirty="0">
                <a:latin typeface="Times New Roman" panose="02020603050405020304" pitchFamily="18" charset="0"/>
                <a:cs typeface="Times New Roman" panose="02020603050405020304" pitchFamily="18" charset="0"/>
              </a:rPr>
              <a:t>Milestone 3</a:t>
            </a:r>
            <a:endParaRPr lang="en-IN" dirty="0"/>
          </a:p>
        </p:txBody>
      </p:sp>
      <p:sp>
        <p:nvSpPr>
          <p:cNvPr id="4" name="TextBox 3">
            <a:extLst>
              <a:ext uri="{FF2B5EF4-FFF2-40B4-BE49-F238E27FC236}">
                <a16:creationId xmlns:a16="http://schemas.microsoft.com/office/drawing/2014/main" id="{DB5013BA-7F1E-9542-6453-3AD5BDFCB274}"/>
              </a:ext>
            </a:extLst>
          </p:cNvPr>
          <p:cNvSpPr txBox="1"/>
          <p:nvPr/>
        </p:nvSpPr>
        <p:spPr>
          <a:xfrm>
            <a:off x="913774" y="1858296"/>
            <a:ext cx="9990200" cy="419198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Historical Data Preparation: Prepare historical transaction data in the format required by the forecasting model (e.g., time series of aggregated daily/weekly/monthly expenses per category).</a:t>
            </a:r>
          </a:p>
          <a:p>
            <a:pPr algn="just">
              <a:lnSpc>
                <a:spcPct val="150000"/>
              </a:lnSpc>
            </a:pPr>
            <a:r>
              <a:rPr lang="en-US" sz="2000" dirty="0">
                <a:latin typeface="Times New Roman" panose="02020603050405020304" pitchFamily="18" charset="0"/>
                <a:cs typeface="Times New Roman" panose="02020603050405020304" pitchFamily="18" charset="0"/>
              </a:rPr>
              <a:t> ❖ Prophet Integration: Integrate Prophet (Meta's forecasting library) to generate future expense forecasts for different categories or overall spending.</a:t>
            </a:r>
          </a:p>
          <a:p>
            <a:pPr algn="just">
              <a:lnSpc>
                <a:spcPct val="150000"/>
              </a:lnSpc>
            </a:pPr>
            <a:r>
              <a:rPr lang="en-US" sz="2000" dirty="0">
                <a:latin typeface="Times New Roman" panose="02020603050405020304" pitchFamily="18" charset="0"/>
                <a:cs typeface="Times New Roman" panose="02020603050405020304" pitchFamily="18" charset="0"/>
              </a:rPr>
              <a:t> ❖ Financial Goal Setting: Allow users to define financial goals (e.g., "Save $X by Y date," "Reduce spending in category Z by A%").</a:t>
            </a:r>
          </a:p>
          <a:p>
            <a:pPr algn="just">
              <a:lnSpc>
                <a:spcPct val="150000"/>
              </a:lnSpc>
            </a:pPr>
            <a:r>
              <a:rPr lang="en-US" sz="2000" dirty="0">
                <a:latin typeface="Times New Roman" panose="02020603050405020304" pitchFamily="18" charset="0"/>
                <a:cs typeface="Times New Roman" panose="02020603050405020304" pitchFamily="18" charset="0"/>
              </a:rPr>
              <a:t> ❖ Forecast Visualization: Update the dashboard to display the forecasted expenses alongside actual historical data (line chart using Matplotlib/Seaborn). Show projected savings based on forecasts.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2505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6A91A8-5714-7EDC-33BE-44F4595BFCC0}"/>
              </a:ext>
            </a:extLst>
          </p:cNvPr>
          <p:cNvSpPr>
            <a:spLocks noChangeArrowheads="1"/>
          </p:cNvSpPr>
          <p:nvPr/>
        </p:nvSpPr>
        <p:spPr bwMode="auto">
          <a:xfrm>
            <a:off x="530942" y="0"/>
            <a:ext cx="10579510" cy="696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Historical Data Preparation:</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Collected and formatted past transaction data into a time series structure (daily, weekly, or monthly) for each expense category. This organized dataset served as the foundation for accurate forecasting and trend analysis.</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Prophet Integration:</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Integrated Meta’s Prophet library to generate future expense forecasts based on historical spending patterns. </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Financial Goal Setting: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Introduced a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goal-setting module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that allows users to define specific financial objectives such as “Save ₹5,000 by month-end” or “Reduce food expenses by 10%.” These goals helped users track progress and stay motivated toward better financial habits.</a:t>
            </a:r>
          </a:p>
          <a:p>
            <a:pPr marL="0" marR="0" lvl="0" indent="0" algn="just" defTabSz="914400" rtl="0" eaLnBrk="0" fontAlgn="base" latinLnBrk="0" hangingPunct="0">
              <a:lnSpc>
                <a:spcPct val="150000"/>
              </a:lnSpc>
              <a:spcBef>
                <a:spcPct val="0"/>
              </a:spcBef>
              <a:spcAft>
                <a:spcPct val="0"/>
              </a:spcAft>
              <a:buClrTx/>
              <a:buSzTx/>
              <a:buFontTx/>
              <a:buAutoNum type="arabicPeriod" startAt="4"/>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Forecast Visualization:</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Enhanced the dashboard with interactive line charts using Matplotlib and Seaborn to display actual versus predicted expenses. This visual comparison helped users understand future trends clearly.</a:t>
            </a:r>
          </a:p>
          <a:p>
            <a:pPr marL="0" marR="0" lvl="0" indent="0" algn="just" defTabSz="914400" rtl="0" eaLnBrk="0" fontAlgn="base" latinLnBrk="0" hangingPunct="0">
              <a:lnSpc>
                <a:spcPct val="150000"/>
              </a:lnSpc>
              <a:spcBef>
                <a:spcPct val="0"/>
              </a:spcBef>
              <a:spcAft>
                <a:spcPct val="0"/>
              </a:spcAft>
              <a:buClrTx/>
              <a:buSzTx/>
              <a:buFontTx/>
              <a:buAutoNum type="arabicPeriod" startAt="5"/>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Projected Savings Insights:</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Added dynamic visuals to show forecasted savings and spending trends, enabling users to anticipate upcoming expenses and plan budgets more efficiently.</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3135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1268C-F772-862B-319D-ABA7D7FD8EBB}"/>
              </a:ext>
            </a:extLst>
          </p:cNvPr>
          <p:cNvSpPr>
            <a:spLocks noGrp="1"/>
          </p:cNvSpPr>
          <p:nvPr>
            <p:ph type="title"/>
          </p:nvPr>
        </p:nvSpPr>
        <p:spPr/>
        <p:txBody>
          <a:bodyPr/>
          <a:lstStyle/>
          <a:p>
            <a:r>
              <a:rPr lang="en-US" altLang="en-US" b="1" cap="none" dirty="0">
                <a:latin typeface="Times New Roman" panose="02020603050405020304" pitchFamily="18" charset="0"/>
                <a:cs typeface="Times New Roman" panose="02020603050405020304" pitchFamily="18" charset="0"/>
              </a:rPr>
              <a:t>Forecast Visualization and Goals</a:t>
            </a:r>
            <a:endParaRPr lang="en-IN" dirty="0"/>
          </a:p>
        </p:txBody>
      </p:sp>
      <p:sp>
        <p:nvSpPr>
          <p:cNvPr id="4" name="Content Placeholder 3">
            <a:extLst>
              <a:ext uri="{FF2B5EF4-FFF2-40B4-BE49-F238E27FC236}">
                <a16:creationId xmlns:a16="http://schemas.microsoft.com/office/drawing/2014/main" id="{D2024CAD-C55A-40CE-0F46-149E94A56243}"/>
              </a:ext>
            </a:extLst>
          </p:cNvPr>
          <p:cNvSpPr>
            <a:spLocks noGrp="1"/>
          </p:cNvSpPr>
          <p:nvPr>
            <p:ph sz="quarter" idx="13"/>
          </p:nvPr>
        </p:nvSpPr>
        <p:spPr/>
        <p:txBody>
          <a:bodyPr/>
          <a:lstStyle/>
          <a:p>
            <a:endParaRPr lang="en-IN"/>
          </a:p>
        </p:txBody>
      </p:sp>
      <p:pic>
        <p:nvPicPr>
          <p:cNvPr id="5" name="Picture 4">
            <a:extLst>
              <a:ext uri="{FF2B5EF4-FFF2-40B4-BE49-F238E27FC236}">
                <a16:creationId xmlns:a16="http://schemas.microsoft.com/office/drawing/2014/main" id="{B45DAFFF-5168-3856-CAEB-5ACB634AA21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4612" y="2367092"/>
            <a:ext cx="5155187" cy="3424107"/>
          </a:xfrm>
          <a:prstGeom prst="rect">
            <a:avLst/>
          </a:prstGeom>
          <a:noFill/>
          <a:ln>
            <a:noFill/>
          </a:ln>
        </p:spPr>
      </p:pic>
      <p:pic>
        <p:nvPicPr>
          <p:cNvPr id="12" name="Content Placeholder 11">
            <a:extLst>
              <a:ext uri="{FF2B5EF4-FFF2-40B4-BE49-F238E27FC236}">
                <a16:creationId xmlns:a16="http://schemas.microsoft.com/office/drawing/2014/main" id="{A564C25D-5BE2-A22C-4FA5-61B3C28823B5}"/>
              </a:ext>
            </a:extLst>
          </p:cNvPr>
          <p:cNvPicPr>
            <a:picLocks noGrp="1" noChangeAspect="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6272980" y="2366962"/>
            <a:ext cx="4729942" cy="3424237"/>
          </a:xfrm>
          <a:prstGeom prst="rect">
            <a:avLst/>
          </a:prstGeom>
          <a:noFill/>
          <a:ln>
            <a:noFill/>
          </a:ln>
        </p:spPr>
      </p:pic>
    </p:spTree>
    <p:extLst>
      <p:ext uri="{BB962C8B-B14F-4D97-AF65-F5344CB8AC3E}">
        <p14:creationId xmlns:p14="http://schemas.microsoft.com/office/powerpoint/2010/main" val="1388182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3DAB9-9E3D-1A70-075B-15E74D41D06B}"/>
              </a:ext>
            </a:extLst>
          </p:cNvPr>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Milestone 4: Advanced Visualization, Admin &amp; Deployment</a:t>
            </a:r>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10C3862-56D6-1734-D8AA-2DF224CFAB90}"/>
              </a:ext>
            </a:extLst>
          </p:cNvPr>
          <p:cNvSpPr txBox="1"/>
          <p:nvPr/>
        </p:nvSpPr>
        <p:spPr>
          <a:xfrm>
            <a:off x="1160206" y="1848463"/>
            <a:ext cx="10118019" cy="419198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Interactive Financial Dashboard: Develop a comprehensive, interactive financial dashboard (using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/Dash with </a:t>
            </a:r>
            <a:r>
              <a:rPr lang="en-IN" sz="2000" dirty="0" err="1">
                <a:latin typeface="Times New Roman" panose="02020603050405020304" pitchFamily="18" charset="0"/>
                <a:cs typeface="Times New Roman" panose="02020603050405020304" pitchFamily="18" charset="0"/>
              </a:rPr>
              <a:t>Plotly</a:t>
            </a:r>
            <a:r>
              <a:rPr lang="en-IN" sz="2000" dirty="0">
                <a:latin typeface="Times New Roman" panose="02020603050405020304" pitchFamily="18" charset="0"/>
                <a:cs typeface="Times New Roman" panose="02020603050405020304" pitchFamily="18" charset="0"/>
              </a:rPr>
              <a:t>/Matplotlib/Seaborn) that includes:</a:t>
            </a:r>
          </a:p>
          <a:p>
            <a:pPr algn="just">
              <a:lnSpc>
                <a:spcPct val="150000"/>
              </a:lnSpc>
            </a:pPr>
            <a:r>
              <a:rPr lang="en-IN" sz="2000" dirty="0">
                <a:latin typeface="Times New Roman" panose="02020603050405020304" pitchFamily="18" charset="0"/>
                <a:cs typeface="Times New Roman" panose="02020603050405020304" pitchFamily="18" charset="0"/>
              </a:rPr>
              <a:t>                       ○ Detailed spending breakdown by custom periods.</a:t>
            </a:r>
          </a:p>
          <a:p>
            <a:pPr algn="just">
              <a:lnSpc>
                <a:spcPct val="150000"/>
              </a:lnSpc>
            </a:pPr>
            <a:r>
              <a:rPr lang="en-IN" sz="2000" dirty="0">
                <a:latin typeface="Times New Roman" panose="02020603050405020304" pitchFamily="18" charset="0"/>
                <a:cs typeface="Times New Roman" panose="02020603050405020304" pitchFamily="18" charset="0"/>
              </a:rPr>
              <a:t>                       ○ Income vs. Expense trends.</a:t>
            </a:r>
          </a:p>
          <a:p>
            <a:pPr algn="just">
              <a:lnSpc>
                <a:spcPct val="150000"/>
              </a:lnSpc>
            </a:pPr>
            <a:r>
              <a:rPr lang="en-IN" sz="2000" dirty="0">
                <a:latin typeface="Times New Roman" panose="02020603050405020304" pitchFamily="18" charset="0"/>
                <a:cs typeface="Times New Roman" panose="02020603050405020304" pitchFamily="18" charset="0"/>
              </a:rPr>
              <a:t>                       ○ Forecasted cash flow.</a:t>
            </a:r>
          </a:p>
          <a:p>
            <a:pPr algn="just">
              <a:lnSpc>
                <a:spcPct val="150000"/>
              </a:lnSpc>
            </a:pPr>
            <a:r>
              <a:rPr lang="en-IN" sz="2000" dirty="0">
                <a:latin typeface="Times New Roman" panose="02020603050405020304" pitchFamily="18" charset="0"/>
                <a:cs typeface="Times New Roman" panose="02020603050405020304" pitchFamily="18" charset="0"/>
              </a:rPr>
              <a:t>                       ○ Goal progress tracking.</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Admin Dashboard: Develop a basic admin interface:</a:t>
            </a:r>
          </a:p>
          <a:p>
            <a:pPr algn="just">
              <a:lnSpc>
                <a:spcPct val="150000"/>
              </a:lnSpc>
            </a:pPr>
            <a:r>
              <a:rPr lang="en-IN" sz="2000" dirty="0">
                <a:latin typeface="Times New Roman" panose="02020603050405020304" pitchFamily="18" charset="0"/>
                <a:cs typeface="Times New Roman" panose="02020603050405020304" pitchFamily="18" charset="0"/>
              </a:rPr>
              <a:t>                       ○ Managing predefined transaction categories and rules.</a:t>
            </a:r>
          </a:p>
          <a:p>
            <a:pPr algn="just">
              <a:lnSpc>
                <a:spcPct val="150000"/>
              </a:lnSpc>
            </a:pPr>
            <a:r>
              <a:rPr lang="en-IN" sz="2000" dirty="0">
                <a:latin typeface="Times New Roman" panose="02020603050405020304" pitchFamily="18" charset="0"/>
                <a:cs typeface="Times New Roman" panose="02020603050405020304" pitchFamily="18" charset="0"/>
              </a:rPr>
              <a:t>                       ○ Monitoring system usage and data consistency.</a:t>
            </a:r>
          </a:p>
        </p:txBody>
      </p:sp>
    </p:spTree>
    <p:extLst>
      <p:ext uri="{BB962C8B-B14F-4D97-AF65-F5344CB8AC3E}">
        <p14:creationId xmlns:p14="http://schemas.microsoft.com/office/powerpoint/2010/main" val="3897762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1791B6-211F-CBA7-A77F-9B526E2A44F2}"/>
              </a:ext>
            </a:extLst>
          </p:cNvPr>
          <p:cNvSpPr txBox="1"/>
          <p:nvPr/>
        </p:nvSpPr>
        <p:spPr>
          <a:xfrm>
            <a:off x="1292942" y="1986117"/>
            <a:ext cx="9606116" cy="188365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Deployment Preparation: Containerize the entire application using Docker. Prepare for deployment on free cloud platforms (e.g.,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Community Cloud, Render).</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Documentation &amp; Presentation: Finalize project documentation, code comments, and prepare for the final presentation.</a:t>
            </a:r>
          </a:p>
        </p:txBody>
      </p:sp>
    </p:spTree>
    <p:extLst>
      <p:ext uri="{BB962C8B-B14F-4D97-AF65-F5344CB8AC3E}">
        <p14:creationId xmlns:p14="http://schemas.microsoft.com/office/powerpoint/2010/main" val="1882072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10A8C6-6992-D4FF-2A58-2E22BAE5A580}"/>
              </a:ext>
            </a:extLst>
          </p:cNvPr>
          <p:cNvSpPr txBox="1"/>
          <p:nvPr/>
        </p:nvSpPr>
        <p:spPr>
          <a:xfrm>
            <a:off x="1012723" y="393290"/>
            <a:ext cx="11090787" cy="6038641"/>
          </a:xfrm>
          <a:prstGeom prst="rect">
            <a:avLst/>
          </a:prstGeom>
          <a:noFill/>
        </p:spPr>
        <p:txBody>
          <a:bodyPr wrap="square">
            <a:spAutoFit/>
          </a:bodyPr>
          <a:lstStyle/>
          <a:p>
            <a:pPr>
              <a:lnSpc>
                <a:spcPct val="150000"/>
              </a:lnSpc>
              <a:buNone/>
            </a:pPr>
            <a:r>
              <a:rPr lang="en-US" sz="2000" b="1" dirty="0">
                <a:latin typeface="Times New Roman" panose="02020603050405020304" pitchFamily="18" charset="0"/>
                <a:cs typeface="Times New Roman" panose="02020603050405020304" pitchFamily="18" charset="0"/>
              </a:rPr>
              <a:t>1. Interactive Financial Dashboard (Front-End Visualization)</a:t>
            </a:r>
          </a:p>
          <a:p>
            <a:pPr>
              <a:lnSpc>
                <a:spcPct val="150000"/>
              </a:lnSpc>
              <a:buNone/>
            </a:pPr>
            <a:r>
              <a:rPr lang="en-US" sz="2000" dirty="0">
                <a:latin typeface="Times New Roman" panose="02020603050405020304" pitchFamily="18" charset="0"/>
                <a:cs typeface="Times New Roman" panose="02020603050405020304" pitchFamily="18" charset="0"/>
              </a:rPr>
              <a:t>A fully interactive dashboard is created using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 Dash with visual libraries like </a:t>
            </a:r>
            <a:r>
              <a:rPr lang="en-US" sz="2000" dirty="0" err="1">
                <a:latin typeface="Times New Roman" panose="02020603050405020304" pitchFamily="18" charset="0"/>
                <a:cs typeface="Times New Roman" panose="02020603050405020304" pitchFamily="18" charset="0"/>
              </a:rPr>
              <a:t>Plotly</a:t>
            </a:r>
            <a:r>
              <a:rPr lang="en-US" sz="2000" dirty="0">
                <a:latin typeface="Times New Roman" panose="02020603050405020304" pitchFamily="18" charset="0"/>
                <a:cs typeface="Times New Roman" panose="02020603050405020304" pitchFamily="18" charset="0"/>
              </a:rPr>
              <a:t>, Matplotlib, and Seaborn. The dashboard helps users understand their financial patterns easily.</a:t>
            </a:r>
          </a:p>
          <a:p>
            <a:pPr>
              <a:lnSpc>
                <a:spcPct val="150000"/>
              </a:lnSpc>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Key Features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Detailed Spending Breakdown (Custom Periods)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Users can choose any date range (week, month, year) to view spending category-wise.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Helps identify where most expenses occur.</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Income vs. Expense Trends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 visual comparison of income and expenses over time.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Shows surplus or deficit instantly.</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Forecasted Cash Flow</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AI model (Prophet) predicts future expenses and cash flow.</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Helps users plan their budget ahead.</a:t>
            </a:r>
          </a:p>
        </p:txBody>
      </p:sp>
    </p:spTree>
    <p:extLst>
      <p:ext uri="{BB962C8B-B14F-4D97-AF65-F5344CB8AC3E}">
        <p14:creationId xmlns:p14="http://schemas.microsoft.com/office/powerpoint/2010/main" val="381518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AFEB53-4942-1D0D-B3AE-105EC77207BC}"/>
              </a:ext>
            </a:extLst>
          </p:cNvPr>
          <p:cNvSpPr txBox="1"/>
          <p:nvPr/>
        </p:nvSpPr>
        <p:spPr>
          <a:xfrm>
            <a:off x="1150374" y="682820"/>
            <a:ext cx="6096000" cy="1289071"/>
          </a:xfrm>
          <a:prstGeom prst="rect">
            <a:avLst/>
          </a:prstGeom>
          <a:noFill/>
        </p:spPr>
        <p:txBody>
          <a:bodyPr wrap="square">
            <a:spAutoFit/>
          </a:bodyPr>
          <a:lstStyle/>
          <a:p>
            <a:pPr>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Goal Progress Tracking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Displays how much of their financial goal is completed.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Motivates consistent savings and budgeting.</a:t>
            </a:r>
          </a:p>
        </p:txBody>
      </p:sp>
      <p:sp>
        <p:nvSpPr>
          <p:cNvPr id="5" name="TextBox 4">
            <a:extLst>
              <a:ext uri="{FF2B5EF4-FFF2-40B4-BE49-F238E27FC236}">
                <a16:creationId xmlns:a16="http://schemas.microsoft.com/office/drawing/2014/main" id="{31406852-4273-F410-395A-CA45ADEAF4F4}"/>
              </a:ext>
            </a:extLst>
          </p:cNvPr>
          <p:cNvSpPr txBox="1"/>
          <p:nvPr/>
        </p:nvSpPr>
        <p:spPr>
          <a:xfrm>
            <a:off x="1150374" y="1971891"/>
            <a:ext cx="10156722" cy="4354647"/>
          </a:xfrm>
          <a:prstGeom prst="rect">
            <a:avLst/>
          </a:prstGeom>
          <a:noFill/>
        </p:spPr>
        <p:txBody>
          <a:bodyPr wrap="square">
            <a:spAutoFit/>
          </a:bodyPr>
          <a:lstStyle/>
          <a:p>
            <a:pPr>
              <a:lnSpc>
                <a:spcPct val="150000"/>
              </a:lnSpc>
              <a:buNone/>
            </a:pPr>
            <a:r>
              <a:rPr lang="en-US" sz="2000" b="1" dirty="0">
                <a:latin typeface="Times New Roman" panose="02020603050405020304" pitchFamily="18" charset="0"/>
                <a:cs typeface="Times New Roman" panose="02020603050405020304" pitchFamily="18" charset="0"/>
              </a:rPr>
              <a:t>2. Admin Dashboard</a:t>
            </a:r>
          </a:p>
          <a:p>
            <a:pPr>
              <a:lnSpc>
                <a:spcPct val="150000"/>
              </a:lnSpc>
              <a:buNone/>
            </a:pPr>
            <a:r>
              <a:rPr lang="en-US" sz="2000" dirty="0">
                <a:latin typeface="Times New Roman" panose="02020603050405020304" pitchFamily="18" charset="0"/>
                <a:cs typeface="Times New Roman" panose="02020603050405020304" pitchFamily="18" charset="0"/>
              </a:rPr>
              <a:t>A simple control panel for system management that ensures the app runs smoothly.</a:t>
            </a:r>
          </a:p>
          <a:p>
            <a:pPr>
              <a:lnSpc>
                <a:spcPct val="150000"/>
              </a:lnSpc>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Key Features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Manage Transaction Categories &amp; Rules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Admin can add/edit/delete categories and keyword rules used for auto-categorization.</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Monitor System Usage &amp; Data Consistency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Admin can monitor:</a:t>
            </a:r>
          </a:p>
          <a:p>
            <a:pPr marL="742950" lvl="1"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Number of users, Total transactions, Category usage, Any irregularities in data and Ensures a stable and clean database.</a:t>
            </a:r>
          </a:p>
        </p:txBody>
      </p:sp>
    </p:spTree>
    <p:extLst>
      <p:ext uri="{BB962C8B-B14F-4D97-AF65-F5344CB8AC3E}">
        <p14:creationId xmlns:p14="http://schemas.microsoft.com/office/powerpoint/2010/main" val="1202239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497D2B-899E-EECD-8E85-604746C85F28}"/>
              </a:ext>
            </a:extLst>
          </p:cNvPr>
          <p:cNvSpPr txBox="1"/>
          <p:nvPr/>
        </p:nvSpPr>
        <p:spPr>
          <a:xfrm>
            <a:off x="1425677" y="855407"/>
            <a:ext cx="10245213" cy="5115311"/>
          </a:xfrm>
          <a:prstGeom prst="rect">
            <a:avLst/>
          </a:prstGeom>
          <a:noFill/>
        </p:spPr>
        <p:txBody>
          <a:bodyPr wrap="square">
            <a:spAutoFit/>
          </a:bodyPr>
          <a:lstStyle/>
          <a:p>
            <a:pPr>
              <a:lnSpc>
                <a:spcPct val="150000"/>
              </a:lnSpc>
              <a:buNone/>
            </a:pPr>
            <a:r>
              <a:rPr lang="en-US" sz="2000" b="1" dirty="0">
                <a:latin typeface="Times New Roman" panose="02020603050405020304" pitchFamily="18" charset="0"/>
                <a:cs typeface="Times New Roman" panose="02020603050405020304" pitchFamily="18" charset="0"/>
              </a:rPr>
              <a:t>3. Deployment Preparation</a:t>
            </a:r>
          </a:p>
          <a:p>
            <a:pPr>
              <a:lnSpc>
                <a:spcPct val="150000"/>
              </a:lnSpc>
              <a:buNone/>
            </a:pPr>
            <a:r>
              <a:rPr lang="en-US" sz="2000" dirty="0">
                <a:latin typeface="Times New Roman" panose="02020603050405020304" pitchFamily="18" charset="0"/>
                <a:cs typeface="Times New Roman" panose="02020603050405020304" pitchFamily="18" charset="0"/>
              </a:rPr>
              <a:t>The entire application (frontend + backend + database) is prepared for deployment.</a:t>
            </a:r>
          </a:p>
          <a:p>
            <a:pPr>
              <a:lnSpc>
                <a:spcPct val="150000"/>
              </a:lnSpc>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Key Activities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Docker Containerization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complete project is converted into Docker containers.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Ensures easy deployment, portability, and no system compatibility issues.</a:t>
            </a:r>
          </a:p>
          <a:p>
            <a:pPr>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Cloud Deployment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Preparing for hosting on free platforms like:</a:t>
            </a:r>
          </a:p>
          <a:p>
            <a:pPr marL="742950" lvl="1" indent="-285750">
              <a:lnSpc>
                <a:spcPct val="15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Community Cloud</a:t>
            </a:r>
          </a:p>
          <a:p>
            <a:pPr marL="742950" lvl="1"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Render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Makes the app accessible online for anyone to use.</a:t>
            </a:r>
          </a:p>
        </p:txBody>
      </p:sp>
    </p:spTree>
    <p:extLst>
      <p:ext uri="{BB962C8B-B14F-4D97-AF65-F5344CB8AC3E}">
        <p14:creationId xmlns:p14="http://schemas.microsoft.com/office/powerpoint/2010/main" val="824001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EC38B-0AF2-9522-422E-2EDD27A73C75}"/>
              </a:ext>
            </a:extLst>
          </p:cNvPr>
          <p:cNvSpPr>
            <a:spLocks noGrp="1"/>
          </p:cNvSpPr>
          <p:nvPr>
            <p:ph type="title"/>
          </p:nvPr>
        </p:nvSpPr>
        <p:spPr/>
        <p:txBody>
          <a:bodyPr/>
          <a:lstStyle/>
          <a:p>
            <a:r>
              <a:rPr lang="en-IN" dirty="0"/>
              <a:t>Admin dashboard and visual analytics</a:t>
            </a:r>
          </a:p>
        </p:txBody>
      </p:sp>
      <p:pic>
        <p:nvPicPr>
          <p:cNvPr id="5" name="Content Placeholder 4">
            <a:extLst>
              <a:ext uri="{FF2B5EF4-FFF2-40B4-BE49-F238E27FC236}">
                <a16:creationId xmlns:a16="http://schemas.microsoft.com/office/drawing/2014/main" id="{AA3554C1-0692-E868-1CFC-8BB886B457AC}"/>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1047017" y="2366963"/>
            <a:ext cx="4840166" cy="3424237"/>
          </a:xfrm>
          <a:prstGeom prst="rect">
            <a:avLst/>
          </a:prstGeom>
          <a:noFill/>
          <a:ln>
            <a:noFill/>
          </a:ln>
        </p:spPr>
      </p:pic>
      <p:pic>
        <p:nvPicPr>
          <p:cNvPr id="6" name="Content Placeholder 5">
            <a:extLst>
              <a:ext uri="{FF2B5EF4-FFF2-40B4-BE49-F238E27FC236}">
                <a16:creationId xmlns:a16="http://schemas.microsoft.com/office/drawing/2014/main" id="{567DA7E8-4A53-3102-EB2F-33BD886E8855}"/>
              </a:ext>
            </a:extLst>
          </p:cNvPr>
          <p:cNvPicPr>
            <a:picLocks noGrp="1" noChangeAspect="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6172200" y="2366963"/>
            <a:ext cx="5105400" cy="3424237"/>
          </a:xfrm>
          <a:prstGeom prst="rect">
            <a:avLst/>
          </a:prstGeom>
          <a:noFill/>
          <a:ln>
            <a:noFill/>
          </a:ln>
        </p:spPr>
      </p:pic>
    </p:spTree>
    <p:extLst>
      <p:ext uri="{BB962C8B-B14F-4D97-AF65-F5344CB8AC3E}">
        <p14:creationId xmlns:p14="http://schemas.microsoft.com/office/powerpoint/2010/main" val="1618326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1150B-2175-6DCE-FF04-EF2EF7CA13F7}"/>
              </a:ext>
            </a:extLst>
          </p:cNvPr>
          <p:cNvSpPr>
            <a:spLocks noGrp="1"/>
          </p:cNvSpPr>
          <p:nvPr>
            <p:ph type="title"/>
          </p:nvPr>
        </p:nvSpPr>
        <p:spPr/>
        <p:txBody>
          <a:bodyPr/>
          <a:lstStyle/>
          <a:p>
            <a:r>
              <a:rPr lang="en-IN" dirty="0"/>
              <a:t>User management and system tools </a:t>
            </a:r>
          </a:p>
        </p:txBody>
      </p:sp>
      <p:pic>
        <p:nvPicPr>
          <p:cNvPr id="5" name="Content Placeholder 4">
            <a:extLst>
              <a:ext uri="{FF2B5EF4-FFF2-40B4-BE49-F238E27FC236}">
                <a16:creationId xmlns:a16="http://schemas.microsoft.com/office/drawing/2014/main" id="{0CB66A9C-1D59-B123-7B5C-8224CE48D7FF}"/>
              </a:ext>
            </a:extLst>
          </p:cNvPr>
          <p:cNvPicPr>
            <a:picLocks noGrp="1" noChangeAspect="1"/>
          </p:cNvPicPr>
          <p:nvPr>
            <p:ph sz="quarter" idx="13"/>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2487561"/>
            <a:ext cx="5105400" cy="3205316"/>
          </a:xfrm>
          <a:prstGeom prst="rect">
            <a:avLst/>
          </a:prstGeom>
          <a:noFill/>
          <a:ln>
            <a:noFill/>
          </a:ln>
        </p:spPr>
      </p:pic>
      <p:pic>
        <p:nvPicPr>
          <p:cNvPr id="6" name="Content Placeholder 5">
            <a:extLst>
              <a:ext uri="{FF2B5EF4-FFF2-40B4-BE49-F238E27FC236}">
                <a16:creationId xmlns:a16="http://schemas.microsoft.com/office/drawing/2014/main" id="{2093D5C6-567E-0397-A014-2D9F9B0CE0B1}"/>
              </a:ext>
            </a:extLst>
          </p:cNvPr>
          <p:cNvPicPr>
            <a:picLocks noGrp="1" noChangeAspect="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6172200" y="2487561"/>
            <a:ext cx="5105400" cy="3205316"/>
          </a:xfrm>
          <a:prstGeom prst="rect">
            <a:avLst/>
          </a:prstGeom>
          <a:noFill/>
          <a:ln>
            <a:noFill/>
          </a:ln>
        </p:spPr>
      </p:pic>
    </p:spTree>
    <p:extLst>
      <p:ext uri="{BB962C8B-B14F-4D97-AF65-F5344CB8AC3E}">
        <p14:creationId xmlns:p14="http://schemas.microsoft.com/office/powerpoint/2010/main" val="2000056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9E228-03AE-8169-DE1C-A46AB49D823A}"/>
              </a:ext>
            </a:extLst>
          </p:cNvPr>
          <p:cNvSpPr>
            <a:spLocks noGrp="1"/>
          </p:cNvSpPr>
          <p:nvPr>
            <p:ph type="title"/>
          </p:nvPr>
        </p:nvSpPr>
        <p:spPr/>
        <p:txBody>
          <a:bodyPr/>
          <a:lstStyle/>
          <a:p>
            <a:pPr algn="l"/>
            <a:r>
              <a:rPr lang="en-IN" dirty="0"/>
              <a:t>conclusion</a:t>
            </a:r>
            <a:br>
              <a:rPr lang="en-IN" dirty="0"/>
            </a:br>
            <a:endParaRPr lang="en-IN" dirty="0"/>
          </a:p>
        </p:txBody>
      </p:sp>
      <p:sp>
        <p:nvSpPr>
          <p:cNvPr id="4" name="TextBox 3">
            <a:extLst>
              <a:ext uri="{FF2B5EF4-FFF2-40B4-BE49-F238E27FC236}">
                <a16:creationId xmlns:a16="http://schemas.microsoft.com/office/drawing/2014/main" id="{19852041-E665-C973-FA74-480A786C3926}"/>
              </a:ext>
            </a:extLst>
          </p:cNvPr>
          <p:cNvSpPr txBox="1"/>
          <p:nvPr/>
        </p:nvSpPr>
        <p:spPr>
          <a:xfrm>
            <a:off x="1012722" y="2031021"/>
            <a:ext cx="10166555" cy="2795958"/>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BudgetWise delivers a strong foundation for modern expense management and future AI-based forecasting. By integrating secure cloud storage, visual analytics, and a scalable UI, the tool enhances user experience and financial awareness. Future enhancements such as intelligent budget alerts and prediction models aim to transform BudgetWise into a complete smart financial assistant.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4570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9B3A1F-8B51-9A8E-435E-083BA10DC194}"/>
              </a:ext>
            </a:extLst>
          </p:cNvPr>
          <p:cNvSpPr txBox="1"/>
          <p:nvPr/>
        </p:nvSpPr>
        <p:spPr>
          <a:xfrm>
            <a:off x="3038168" y="2880852"/>
            <a:ext cx="8308258" cy="1200329"/>
          </a:xfrm>
          <a:prstGeom prst="rect">
            <a:avLst/>
          </a:prstGeom>
          <a:noFill/>
        </p:spPr>
        <p:txBody>
          <a:bodyPr wrap="square">
            <a:spAutoFit/>
          </a:bodyPr>
          <a:lstStyle/>
          <a:p>
            <a:r>
              <a:rPr lang="en-IN" sz="7200"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3805995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3">
                                            <p:txEl>
                                              <p:pRg st="0" end="0"/>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415</TotalTime>
  <Words>1791</Words>
  <Application>Microsoft Office PowerPoint</Application>
  <PresentationFormat>Widescreen</PresentationFormat>
  <Paragraphs>106</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Times New Roman</vt:lpstr>
      <vt:lpstr>Tw Cen MT</vt:lpstr>
      <vt:lpstr>Droplet</vt:lpstr>
      <vt:lpstr>BudgetWise AI based Expense Forecasting Tool</vt:lpstr>
      <vt:lpstr>Content</vt:lpstr>
      <vt:lpstr>Abstract</vt:lpstr>
      <vt:lpstr>Introduction </vt:lpstr>
      <vt:lpstr>Problem Statement </vt:lpstr>
      <vt:lpstr>Methodology </vt:lpstr>
      <vt:lpstr>PowerPoint Presentation</vt:lpstr>
      <vt:lpstr>Key feature </vt:lpstr>
      <vt:lpstr>Milestone 1</vt:lpstr>
      <vt:lpstr>PowerPoint Presentation</vt:lpstr>
      <vt:lpstr>Login and Registration</vt:lpstr>
      <vt:lpstr>Milestone 2</vt:lpstr>
      <vt:lpstr>PowerPoint Presentation</vt:lpstr>
      <vt:lpstr>Automated Categorization and Data Visualization</vt:lpstr>
      <vt:lpstr>Milestone 3</vt:lpstr>
      <vt:lpstr>PowerPoint Presentation</vt:lpstr>
      <vt:lpstr>Forecast Visualization and Goals</vt:lpstr>
      <vt:lpstr>Milestone 4: Advanced Visualization, Admin &amp; Deployment </vt:lpstr>
      <vt:lpstr>PowerPoint Presentation</vt:lpstr>
      <vt:lpstr>PowerPoint Presentation</vt:lpstr>
      <vt:lpstr>PowerPoint Presentation</vt:lpstr>
      <vt:lpstr>PowerPoint Presentation</vt:lpstr>
      <vt:lpstr>Admin dashboard and visual analytics</vt:lpstr>
      <vt:lpstr>User management and system tools </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Ramya .</dc:creator>
  <cp:lastModifiedBy>Vasantha R S</cp:lastModifiedBy>
  <cp:revision>5</cp:revision>
  <dcterms:created xsi:type="dcterms:W3CDTF">2025-10-27T03:57:34Z</dcterms:created>
  <dcterms:modified xsi:type="dcterms:W3CDTF">2025-11-22T10:21:51Z</dcterms:modified>
</cp:coreProperties>
</file>